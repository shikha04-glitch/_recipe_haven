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83" r:id="rId3"/>
    <p:sldId id="258" r:id="rId4"/>
    <p:sldId id="285" r:id="rId5"/>
    <p:sldId id="290" r:id="rId6"/>
    <p:sldId id="286" r:id="rId7"/>
    <p:sldId id="287" r:id="rId8"/>
    <p:sldId id="288" r:id="rId9"/>
    <p:sldId id="289" r:id="rId10"/>
    <p:sldId id="293" r:id="rId11"/>
    <p:sldId id="291" r:id="rId12"/>
    <p:sldId id="294" r:id="rId13"/>
    <p:sldId id="284" r:id="rId14"/>
    <p:sldId id="29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3177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9603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6567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0488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640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5369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1077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398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420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14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9629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11/13/2025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012243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34672F9-A300-8746-B11D-4FE4B2881D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0" y="135"/>
            <a:ext cx="12191521" cy="6885113"/>
          </a:xfrm>
          <a:prstGeom prst="rect">
            <a:avLst/>
          </a:prstGeom>
        </p:spPr>
      </p:pic>
      <p:sp>
        <p:nvSpPr>
          <p:cNvPr id="2" name="Title 1"/>
          <p:cNvSpPr>
            <a:spLocks noGrp="1"/>
          </p:cNvSpPr>
          <p:nvPr>
            <p:ph type="ctrTitle"/>
          </p:nvPr>
        </p:nvSpPr>
        <p:spPr>
          <a:xfrm>
            <a:off x="914400" y="2151448"/>
            <a:ext cx="10363200" cy="1470025"/>
          </a:xfrm>
        </p:spPr>
        <p:txBody>
          <a:bodyPr>
            <a:normAutofit fontScale="90000"/>
          </a:bodyPr>
          <a:lstStyle/>
          <a:p>
            <a:r>
              <a:rPr lang="en-US" sz="5300" b="1"/>
              <a:t>Recipe Sharing </a:t>
            </a:r>
            <a:br>
              <a:rPr lang="en-US" sz="4000" b="1"/>
            </a:br>
            <a:r>
              <a:rPr lang="en-US" sz="3600" b="1"/>
              <a:t>Subject Name: Web Development </a:t>
            </a:r>
            <a:br>
              <a:rPr lang="en-US" sz="3600" b="1"/>
            </a:br>
            <a:r>
              <a:rPr lang="en-US" sz="3600" b="1"/>
              <a:t>Subject Code:ETVAWD009</a:t>
            </a:r>
          </a:p>
        </p:txBody>
      </p:sp>
      <p:pic>
        <p:nvPicPr>
          <p:cNvPr id="5" name="Picture 4">
            <a:extLst>
              <a:ext uri="{FF2B5EF4-FFF2-40B4-BE49-F238E27FC236}">
                <a16:creationId xmlns:a16="http://schemas.microsoft.com/office/drawing/2014/main" id="{919CD4A3-CBDA-053F-9478-913A294D8E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853" y="298095"/>
            <a:ext cx="6395814" cy="920836"/>
          </a:xfrm>
          <a:prstGeom prst="rect">
            <a:avLst/>
          </a:prstGeom>
        </p:spPr>
      </p:pic>
      <p:sp>
        <p:nvSpPr>
          <p:cNvPr id="8" name="Rectangle 1">
            <a:extLst>
              <a:ext uri="{FF2B5EF4-FFF2-40B4-BE49-F238E27FC236}">
                <a16:creationId xmlns:a16="http://schemas.microsoft.com/office/drawing/2014/main" id="{E6738A99-7227-1391-9DFC-04660109D799}"/>
              </a:ext>
            </a:extLst>
          </p:cNvPr>
          <p:cNvSpPr>
            <a:spLocks noChangeArrowheads="1"/>
          </p:cNvSpPr>
          <p:nvPr/>
        </p:nvSpPr>
        <p:spPr bwMode="auto">
          <a:xfrm>
            <a:off x="-163159" y="4462746"/>
            <a:ext cx="4914169" cy="193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6" tIns="45718" rIns="91436" bIns="45718" numCol="1" anchor="ctr" anchorCtr="0" compatLnSpc="1">
            <a:prstTxWarp prst="textNoShape">
              <a:avLst/>
            </a:prstTxWarp>
            <a:spAutoFit/>
          </a:bodyPr>
          <a:lstStyle/>
          <a:p>
            <a:pPr algn="ctr" defTabSz="457200">
              <a:buSzPct val="25000"/>
              <a:defRPr/>
            </a:pPr>
            <a:r>
              <a:rPr lang="en-US" sz="2400" b="1" kern="100">
                <a:solidFill>
                  <a:prstClr val="black"/>
                </a:solidFill>
                <a:latin typeface="Times New Roman" panose="02020603050405020304" pitchFamily="18" charset="0"/>
                <a:cs typeface="Times New Roman" panose="02020603050405020304" pitchFamily="18" charset="0"/>
                <a:sym typeface="Arial"/>
              </a:rPr>
              <a:t>Presented by:</a:t>
            </a:r>
          </a:p>
          <a:p>
            <a:pPr algn="ctr" defTabSz="457200">
              <a:buSzPct val="25000"/>
              <a:defRPr/>
            </a:pPr>
            <a:r>
              <a:rPr lang="en-US" sz="2400" b="1" kern="100">
                <a:solidFill>
                  <a:prstClr val="black"/>
                </a:solidFill>
                <a:latin typeface="Times New Roman" panose="02020603050405020304" pitchFamily="18" charset="0"/>
                <a:cs typeface="Times New Roman" panose="02020603050405020304" pitchFamily="18" charset="0"/>
                <a:sym typeface="Arial"/>
              </a:rPr>
              <a:t>Saieena(2401010081)</a:t>
            </a:r>
          </a:p>
          <a:p>
            <a:pPr algn="ctr" defTabSz="457200">
              <a:buSzPct val="25000"/>
              <a:defRPr/>
            </a:pPr>
            <a:r>
              <a:rPr lang="en-US" sz="2400" b="1" kern="100">
                <a:solidFill>
                  <a:prstClr val="black"/>
                </a:solidFill>
                <a:latin typeface="Times New Roman" panose="02020603050405020304" pitchFamily="18" charset="0"/>
                <a:cs typeface="Times New Roman" panose="02020603050405020304" pitchFamily="18" charset="0"/>
                <a:sym typeface="Arial"/>
              </a:rPr>
              <a:t>Shikha(2401010063)</a:t>
            </a:r>
          </a:p>
          <a:p>
            <a:pPr algn="ctr" defTabSz="457200">
              <a:buSzPct val="25000"/>
              <a:defRPr/>
            </a:pPr>
            <a:r>
              <a:rPr lang="en-US" sz="2400" b="1" kern="100">
                <a:solidFill>
                  <a:prstClr val="black"/>
                </a:solidFill>
                <a:latin typeface="Times New Roman" panose="02020603050405020304" pitchFamily="18" charset="0"/>
                <a:cs typeface="Times New Roman" panose="02020603050405020304" pitchFamily="18" charset="0"/>
                <a:sym typeface="Arial"/>
              </a:rPr>
              <a:t>Ananya(2401010056)</a:t>
            </a:r>
          </a:p>
          <a:p>
            <a:pPr algn="ctr" defTabSz="457200">
              <a:buSzPct val="25000"/>
              <a:defRPr/>
            </a:pPr>
            <a:r>
              <a:rPr lang="en-US" sz="2400" b="1" kern="100">
                <a:solidFill>
                  <a:prstClr val="black"/>
                </a:solidFill>
                <a:latin typeface="Times New Roman" panose="02020603050405020304" pitchFamily="18" charset="0"/>
                <a:cs typeface="Times New Roman" panose="02020603050405020304" pitchFamily="18" charset="0"/>
                <a:sym typeface="Arial"/>
              </a:rPr>
              <a:t>Diksha(2401010055)</a:t>
            </a:r>
          </a:p>
        </p:txBody>
      </p:sp>
      <p:sp>
        <p:nvSpPr>
          <p:cNvPr id="3" name="TextBox 2">
            <a:extLst>
              <a:ext uri="{FF2B5EF4-FFF2-40B4-BE49-F238E27FC236}">
                <a16:creationId xmlns:a16="http://schemas.microsoft.com/office/drawing/2014/main" id="{A12B050D-B502-3FEE-09D1-798CD55AEF03}"/>
              </a:ext>
            </a:extLst>
          </p:cNvPr>
          <p:cNvSpPr txBox="1"/>
          <p:nvPr/>
        </p:nvSpPr>
        <p:spPr>
          <a:xfrm>
            <a:off x="6195315" y="4940758"/>
            <a:ext cx="6096000" cy="120032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Pct val="25000"/>
              <a:buFontTx/>
              <a:buNone/>
              <a:tabLst/>
              <a:defRPr/>
            </a:pPr>
            <a:r>
              <a:rPr kumimoji="0" lang="en-US" sz="2400" b="1" i="0" u="none" strike="noStrike" kern="1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rPr>
              <a:t>Presented to:</a:t>
            </a:r>
          </a:p>
          <a:p>
            <a:pPr marL="0" marR="0" lvl="0" indent="0" algn="ctr" defTabSz="457200" rtl="0" eaLnBrk="1" fontAlgn="auto" latinLnBrk="0" hangingPunct="1">
              <a:lnSpc>
                <a:spcPct val="100000"/>
              </a:lnSpc>
              <a:spcBef>
                <a:spcPts val="0"/>
              </a:spcBef>
              <a:spcAft>
                <a:spcPts val="0"/>
              </a:spcAft>
              <a:buClrTx/>
              <a:buSzPct val="25000"/>
              <a:buFontTx/>
              <a:buNone/>
              <a:tabLst/>
              <a:defRPr/>
            </a:pPr>
            <a:r>
              <a:rPr lang="en-US" sz="2400" b="1" kern="100">
                <a:solidFill>
                  <a:prstClr val="black"/>
                </a:solidFill>
                <a:latin typeface="Times New Roman" panose="02020603050405020304" pitchFamily="18" charset="0"/>
                <a:cs typeface="Times New Roman" panose="02020603050405020304" pitchFamily="18" charset="0"/>
                <a:sym typeface="Arial"/>
              </a:rPr>
              <a:t>Dr. Aarti</a:t>
            </a:r>
            <a:endParaRPr kumimoji="0" lang="en-US" sz="2400" b="1" i="0" u="none" strike="noStrike" kern="1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Arial"/>
            </a:endParaRPr>
          </a:p>
          <a:p>
            <a:pPr marL="0" marR="0" lvl="0" indent="0" algn="ctr" defTabSz="457200" rtl="0" eaLnBrk="1" fontAlgn="auto" latinLnBrk="0" hangingPunct="1">
              <a:lnSpc>
                <a:spcPct val="100000"/>
              </a:lnSpc>
              <a:spcBef>
                <a:spcPts val="0"/>
              </a:spcBef>
              <a:spcAft>
                <a:spcPts val="0"/>
              </a:spcAft>
              <a:buClrTx/>
              <a:buSzPct val="25000"/>
              <a:buFontTx/>
              <a:buNone/>
              <a:tabLst/>
              <a:defRPr/>
            </a:pPr>
            <a:endParaRPr kumimoji="0" lang="en-IN" sz="2400" b="1" i="0" u="none" strike="noStrike" kern="1200" cap="none" spc="0" normalizeH="0" baseline="0" noProof="0">
              <a:ln>
                <a:noFill/>
              </a:ln>
              <a:solidFill>
                <a:srgbClr val="E31E24"/>
              </a:solidFill>
              <a:effectLst/>
              <a:uLnTx/>
              <a:uFillTx/>
              <a:latin typeface="Times New Roman" panose="02020603050405020304" pitchFamily="18" charset="0"/>
              <a:ea typeface="+mn-ea"/>
              <a:cs typeface="Times New Roman" panose="020206030504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3">
            <a:extLst>
              <a:ext uri="{FF2B5EF4-FFF2-40B4-BE49-F238E27FC236}">
                <a16:creationId xmlns:a16="http://schemas.microsoft.com/office/drawing/2014/main" id="{E7BAF44D-7ECF-E0A0-CC6B-565F0AC4E9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0" y="135"/>
            <a:ext cx="12191521" cy="6885113"/>
          </a:xfrm>
          <a:prstGeom prst="rect">
            <a:avLst/>
          </a:prstGeom>
        </p:spPr>
      </p:pic>
      <p:sp>
        <p:nvSpPr>
          <p:cNvPr id="4" name="Title 3">
            <a:extLst>
              <a:ext uri="{FF2B5EF4-FFF2-40B4-BE49-F238E27FC236}">
                <a16:creationId xmlns:a16="http://schemas.microsoft.com/office/drawing/2014/main" id="{480D2C4A-9EE9-E607-7DD2-BEDB86603ACF}"/>
              </a:ext>
            </a:extLst>
          </p:cNvPr>
          <p:cNvSpPr>
            <a:spLocks noGrp="1"/>
          </p:cNvSpPr>
          <p:nvPr>
            <p:ph type="title"/>
          </p:nvPr>
        </p:nvSpPr>
        <p:spPr>
          <a:xfrm>
            <a:off x="1021399" y="1376856"/>
            <a:ext cx="10363200" cy="3626069"/>
          </a:xfrm>
        </p:spPr>
        <p:txBody>
          <a:bodyPr>
            <a:noAutofit/>
          </a:bodyPr>
          <a:lstStyle/>
          <a:p>
            <a:r>
              <a:rPr lang="en-US" b="0"/>
              <a:t>[Recipe Haven]</a:t>
            </a:r>
            <a:br>
              <a:rPr lang="en-US" b="0"/>
            </a:br>
            <a:r>
              <a:rPr lang="en-US" b="0"/>
              <a:t>Discover, Cook, Enjoy!</a:t>
            </a:r>
            <a:br>
              <a:rPr lang="en-US" b="0"/>
            </a:br>
            <a:r>
              <a:rPr lang="en-US" b="0"/>
              <a:t>Tagline: “Delicious recipes for everyday inspiration.”</a:t>
            </a:r>
            <a:br>
              <a:rPr lang="en-US" b="0"/>
            </a:br>
            <a:endParaRPr lang="en-IN" sz="3200" b="0" cap="none"/>
          </a:p>
        </p:txBody>
      </p:sp>
    </p:spTree>
    <p:extLst>
      <p:ext uri="{BB962C8B-B14F-4D97-AF65-F5344CB8AC3E}">
        <p14:creationId xmlns:p14="http://schemas.microsoft.com/office/powerpoint/2010/main" val="784207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23541"/>
          </a:xfrm>
        </p:spPr>
        <p:txBody>
          <a:bodyPr/>
          <a:lstStyle/>
          <a:p>
            <a:r>
              <a:rPr lang="en-IN" b="1"/>
              <a:t>Table of Contents</a:t>
            </a:r>
            <a:endParaRPr b="1"/>
          </a:p>
        </p:txBody>
      </p:sp>
      <p:sp>
        <p:nvSpPr>
          <p:cNvPr id="3" name="Content Placeholder 2"/>
          <p:cNvSpPr>
            <a:spLocks noGrp="1"/>
          </p:cNvSpPr>
          <p:nvPr>
            <p:ph idx="1"/>
          </p:nvPr>
        </p:nvSpPr>
        <p:spPr>
          <a:xfrm>
            <a:off x="271669" y="1182757"/>
            <a:ext cx="10972800" cy="5138529"/>
          </a:xfrm>
        </p:spPr>
        <p:txBody>
          <a:bodyPr>
            <a:noAutofit/>
          </a:bodyPr>
          <a:lstStyle/>
          <a:p>
            <a:pPr>
              <a:lnSpc>
                <a:spcPct val="150000"/>
              </a:lnSpc>
              <a:spcBef>
                <a:spcPts val="600"/>
              </a:spcBef>
            </a:pPr>
            <a:r>
              <a:rPr lang="en-IN" sz="2400" b="1"/>
              <a:t>Introduction</a:t>
            </a:r>
          </a:p>
          <a:p>
            <a:pPr>
              <a:lnSpc>
                <a:spcPct val="150000"/>
              </a:lnSpc>
              <a:spcBef>
                <a:spcPts val="600"/>
              </a:spcBef>
            </a:pPr>
            <a:r>
              <a:rPr lang="en-IN" sz="2400" b="1"/>
              <a:t>Background Study</a:t>
            </a:r>
          </a:p>
          <a:p>
            <a:pPr>
              <a:lnSpc>
                <a:spcPct val="150000"/>
              </a:lnSpc>
              <a:spcBef>
                <a:spcPts val="600"/>
              </a:spcBef>
            </a:pPr>
            <a:r>
              <a:rPr lang="en-IN" sz="2400" b="1"/>
              <a:t>Mission &amp; Vision</a:t>
            </a:r>
          </a:p>
          <a:p>
            <a:pPr>
              <a:lnSpc>
                <a:spcPct val="150000"/>
              </a:lnSpc>
              <a:spcBef>
                <a:spcPts val="600"/>
              </a:spcBef>
            </a:pPr>
            <a:r>
              <a:rPr lang="en-IN" sz="2400" b="1"/>
              <a:t>Website Overview</a:t>
            </a:r>
          </a:p>
          <a:p>
            <a:pPr>
              <a:lnSpc>
                <a:spcPct val="150000"/>
              </a:lnSpc>
              <a:spcBef>
                <a:spcPts val="600"/>
              </a:spcBef>
            </a:pPr>
            <a:r>
              <a:rPr lang="en-IN" sz="2400" b="1"/>
              <a:t>Homepage</a:t>
            </a:r>
          </a:p>
          <a:p>
            <a:pPr>
              <a:lnSpc>
                <a:spcPct val="150000"/>
              </a:lnSpc>
              <a:spcBef>
                <a:spcPts val="600"/>
              </a:spcBef>
            </a:pPr>
            <a:r>
              <a:rPr lang="en-IN" sz="2400" b="1"/>
              <a:t>Features &amp; Functionality</a:t>
            </a:r>
          </a:p>
          <a:p>
            <a:pPr>
              <a:lnSpc>
                <a:spcPct val="150000"/>
              </a:lnSpc>
              <a:spcBef>
                <a:spcPts val="600"/>
              </a:spcBef>
            </a:pPr>
            <a:r>
              <a:rPr lang="en-IN" sz="2400" b="1"/>
              <a:t>Why is it unique?</a:t>
            </a:r>
          </a:p>
          <a:p>
            <a:pPr>
              <a:lnSpc>
                <a:spcPct val="150000"/>
              </a:lnSpc>
              <a:spcBef>
                <a:spcPts val="600"/>
              </a:spcBef>
            </a:pPr>
            <a:r>
              <a:rPr lang="en-IN" sz="2400" b="1"/>
              <a:t>Technology Used</a:t>
            </a:r>
          </a:p>
          <a:p>
            <a:pPr>
              <a:lnSpc>
                <a:spcPct val="150000"/>
              </a:lnSpc>
              <a:spcBef>
                <a:spcPts val="600"/>
              </a:spcBef>
            </a:pPr>
            <a:r>
              <a:rPr lang="en-IN" sz="2400" b="1"/>
              <a:t>Reference</a:t>
            </a:r>
          </a:p>
          <a:p>
            <a:pPr>
              <a:lnSpc>
                <a:spcPct val="150000"/>
              </a:lnSpc>
              <a:spcBef>
                <a:spcPts val="600"/>
              </a:spcBef>
            </a:pPr>
            <a:endParaRPr lang="en-IN" sz="2400" b="1"/>
          </a:p>
          <a:p>
            <a:pPr>
              <a:lnSpc>
                <a:spcPct val="150000"/>
              </a:lnSpc>
              <a:spcBef>
                <a:spcPts val="600"/>
              </a:spcBef>
            </a:pPr>
            <a:endParaRPr lang="en-IN" sz="2400" b="1"/>
          </a:p>
          <a:p>
            <a:pPr>
              <a:lnSpc>
                <a:spcPct val="150000"/>
              </a:lnSpc>
              <a:spcBef>
                <a:spcPts val="600"/>
              </a:spcBef>
            </a:pPr>
            <a:endParaRPr lang="en-IN" sz="2400" b="1"/>
          </a:p>
          <a:p>
            <a:pPr>
              <a:lnSpc>
                <a:spcPct val="150000"/>
              </a:lnSpc>
              <a:spcBef>
                <a:spcPts val="600"/>
              </a:spcBef>
            </a:pP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A7E52-303F-4447-E161-D0D3BCD53478}"/>
              </a:ext>
            </a:extLst>
          </p:cNvPr>
          <p:cNvSpPr>
            <a:spLocks noGrp="1"/>
          </p:cNvSpPr>
          <p:nvPr>
            <p:ph type="title"/>
          </p:nvPr>
        </p:nvSpPr>
        <p:spPr/>
        <p:txBody>
          <a:bodyPr/>
          <a:lstStyle/>
          <a:p>
            <a:r>
              <a:rPr lang="en-IN" b="1"/>
              <a:t>Introduction</a:t>
            </a:r>
          </a:p>
        </p:txBody>
      </p:sp>
      <p:sp>
        <p:nvSpPr>
          <p:cNvPr id="3" name="Content Placeholder 2">
            <a:extLst>
              <a:ext uri="{FF2B5EF4-FFF2-40B4-BE49-F238E27FC236}">
                <a16:creationId xmlns:a16="http://schemas.microsoft.com/office/drawing/2014/main" id="{3B7D363E-F926-AFCF-78DA-E686CB3CDDA4}"/>
              </a:ext>
            </a:extLst>
          </p:cNvPr>
          <p:cNvSpPr>
            <a:spLocks noGrp="1"/>
          </p:cNvSpPr>
          <p:nvPr>
            <p:ph idx="1"/>
          </p:nvPr>
        </p:nvSpPr>
        <p:spPr/>
        <p:txBody>
          <a:bodyPr/>
          <a:lstStyle/>
          <a:p>
            <a:r>
              <a:rPr lang="en-US"/>
              <a:t>Welcome to Recipe Haven! Our platform is dedicated to helping food enthusiasts discover new recipes, share their passion for cooking, and connect with a vibrant food-loving community. Whether you're a home cook or a culinary pro, you'll find inspiration, tips,</a:t>
            </a:r>
            <a:r>
              <a:rPr lang="en-IN"/>
              <a:t> exchange cooking ideas</a:t>
            </a:r>
            <a:r>
              <a:rPr lang="en-US"/>
              <a:t>, and a space to showcase your creations.</a:t>
            </a:r>
            <a:endParaRPr lang="en-IN"/>
          </a:p>
        </p:txBody>
      </p:sp>
    </p:spTree>
    <p:extLst>
      <p:ext uri="{BB962C8B-B14F-4D97-AF65-F5344CB8AC3E}">
        <p14:creationId xmlns:p14="http://schemas.microsoft.com/office/powerpoint/2010/main" val="3142493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5722-60EA-6CF2-EF77-0CDEBBB56904}"/>
              </a:ext>
            </a:extLst>
          </p:cNvPr>
          <p:cNvSpPr>
            <a:spLocks noGrp="1"/>
          </p:cNvSpPr>
          <p:nvPr>
            <p:ph type="title"/>
          </p:nvPr>
        </p:nvSpPr>
        <p:spPr/>
        <p:txBody>
          <a:bodyPr/>
          <a:lstStyle/>
          <a:p>
            <a:r>
              <a:rPr lang="en-IN" b="1"/>
              <a:t>Background Study</a:t>
            </a:r>
          </a:p>
        </p:txBody>
      </p:sp>
      <p:sp>
        <p:nvSpPr>
          <p:cNvPr id="3" name="Content Placeholder 2">
            <a:extLst>
              <a:ext uri="{FF2B5EF4-FFF2-40B4-BE49-F238E27FC236}">
                <a16:creationId xmlns:a16="http://schemas.microsoft.com/office/drawing/2014/main" id="{198350B1-919E-A10D-2608-53554363F12A}"/>
              </a:ext>
            </a:extLst>
          </p:cNvPr>
          <p:cNvSpPr>
            <a:spLocks noGrp="1"/>
          </p:cNvSpPr>
          <p:nvPr>
            <p:ph idx="1"/>
          </p:nvPr>
        </p:nvSpPr>
        <p:spPr>
          <a:xfrm>
            <a:off x="288235" y="1391478"/>
            <a:ext cx="11509513" cy="5059017"/>
          </a:xfrm>
        </p:spPr>
        <p:txBody>
          <a:bodyPr>
            <a:normAutofit/>
          </a:bodyPr>
          <a:lstStyle/>
          <a:p>
            <a:pPr marL="0" indent="0">
              <a:buNone/>
            </a:pPr>
            <a:r>
              <a:rPr lang="en-US"/>
              <a:t>This recipe-sharing platform was born from a simple idea: cooking should be personal, creative, and shared with others. It’s more than just a website—it’s like a digital kitchen journal where anyone can add their own recipes, share photos, and tell the stories behind their dishes. What makes it special is the community—people can leave tips, suggest new ways to make a recipe, and learn from each other. Whether you’re a student cooking in a hostel, a busy parent, or just someone who loves food, this platform brings everyone together to cook, experiment, and connect through their shared love of food.</a:t>
            </a:r>
          </a:p>
        </p:txBody>
      </p:sp>
    </p:spTree>
    <p:extLst>
      <p:ext uri="{BB962C8B-B14F-4D97-AF65-F5344CB8AC3E}">
        <p14:creationId xmlns:p14="http://schemas.microsoft.com/office/powerpoint/2010/main" val="2586438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450DE-90C0-AE86-FE47-4C5E4F97CC88}"/>
              </a:ext>
            </a:extLst>
          </p:cNvPr>
          <p:cNvSpPr>
            <a:spLocks noGrp="1"/>
          </p:cNvSpPr>
          <p:nvPr>
            <p:ph type="title"/>
          </p:nvPr>
        </p:nvSpPr>
        <p:spPr/>
        <p:txBody>
          <a:bodyPr/>
          <a:lstStyle/>
          <a:p>
            <a:r>
              <a:rPr lang="en-IN" b="1"/>
              <a:t>Mission &amp; Vision</a:t>
            </a:r>
          </a:p>
        </p:txBody>
      </p:sp>
      <p:sp>
        <p:nvSpPr>
          <p:cNvPr id="3" name="Content Placeholder 2">
            <a:extLst>
              <a:ext uri="{FF2B5EF4-FFF2-40B4-BE49-F238E27FC236}">
                <a16:creationId xmlns:a16="http://schemas.microsoft.com/office/drawing/2014/main" id="{A8A5CE56-B1FF-59F9-C719-BBC062D70294}"/>
              </a:ext>
            </a:extLst>
          </p:cNvPr>
          <p:cNvSpPr>
            <a:spLocks noGrp="1"/>
          </p:cNvSpPr>
          <p:nvPr>
            <p:ph idx="1"/>
          </p:nvPr>
        </p:nvSpPr>
        <p:spPr/>
        <p:txBody>
          <a:bodyPr>
            <a:normAutofit lnSpcReduction="10000"/>
          </a:bodyPr>
          <a:lstStyle/>
          <a:p>
            <a:r>
              <a:rPr lang="en-US" b="1"/>
              <a:t>Mission: </a:t>
            </a:r>
            <a:r>
              <a:rPr lang="en-US"/>
              <a:t>Our mission is to bring home cooks together in a welcoming space to share recipes, stories, and tips. We foster creativity, learning, and support, turning every recipe into a shared cooking adventure.</a:t>
            </a:r>
          </a:p>
          <a:p>
            <a:r>
              <a:rPr lang="en-US" b="1"/>
              <a:t>Vision: </a:t>
            </a:r>
            <a:r>
              <a:rPr lang="en-US"/>
              <a:t>Our vision is to build a fun and creative community where food lovers from all over can connect, share new ideas, and enjoy cooking together. We want this platform to be the go-to place for anyone who loves experimenting with recipes and learning from others.</a:t>
            </a:r>
            <a:endParaRPr lang="en-IN" b="1"/>
          </a:p>
        </p:txBody>
      </p:sp>
    </p:spTree>
    <p:extLst>
      <p:ext uri="{BB962C8B-B14F-4D97-AF65-F5344CB8AC3E}">
        <p14:creationId xmlns:p14="http://schemas.microsoft.com/office/powerpoint/2010/main" val="3249787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8B6C-AE9E-4D96-037E-EB7C809F17C9}"/>
              </a:ext>
            </a:extLst>
          </p:cNvPr>
          <p:cNvSpPr>
            <a:spLocks noGrp="1"/>
          </p:cNvSpPr>
          <p:nvPr>
            <p:ph type="title"/>
          </p:nvPr>
        </p:nvSpPr>
        <p:spPr/>
        <p:txBody>
          <a:bodyPr/>
          <a:lstStyle/>
          <a:p>
            <a:r>
              <a:rPr lang="en-IN" b="1"/>
              <a:t>Website Overview</a:t>
            </a:r>
          </a:p>
        </p:txBody>
      </p:sp>
      <p:sp>
        <p:nvSpPr>
          <p:cNvPr id="3" name="Content Placeholder 2">
            <a:extLst>
              <a:ext uri="{FF2B5EF4-FFF2-40B4-BE49-F238E27FC236}">
                <a16:creationId xmlns:a16="http://schemas.microsoft.com/office/drawing/2014/main" id="{E602B0BD-C933-070A-5234-8B0BAACBC387}"/>
              </a:ext>
            </a:extLst>
          </p:cNvPr>
          <p:cNvSpPr>
            <a:spLocks noGrp="1"/>
          </p:cNvSpPr>
          <p:nvPr>
            <p:ph idx="1"/>
          </p:nvPr>
        </p:nvSpPr>
        <p:spPr/>
        <p:txBody>
          <a:bodyPr/>
          <a:lstStyle/>
          <a:p>
            <a:r>
              <a:rPr lang="en-US" b="1"/>
              <a:t>Intuitive design</a:t>
            </a:r>
            <a:r>
              <a:rPr lang="en-US"/>
              <a:t> for easy navigation</a:t>
            </a:r>
          </a:p>
          <a:p>
            <a:r>
              <a:rPr lang="en-US" b="1"/>
              <a:t>Searchable recipe database</a:t>
            </a:r>
            <a:r>
              <a:rPr lang="en-US"/>
              <a:t> to explore new dishes</a:t>
            </a:r>
          </a:p>
          <a:p>
            <a:r>
              <a:rPr lang="en-US" b="1"/>
              <a:t>User profiles</a:t>
            </a:r>
            <a:r>
              <a:rPr lang="en-US"/>
              <a:t> to save favorites and connect with others</a:t>
            </a:r>
          </a:p>
          <a:p>
            <a:r>
              <a:rPr lang="en-US"/>
              <a:t>Allows users to </a:t>
            </a:r>
            <a:r>
              <a:rPr lang="en-US" b="1"/>
              <a:t>upload </a:t>
            </a:r>
            <a:r>
              <a:rPr lang="en-US"/>
              <a:t>recipes</a:t>
            </a:r>
          </a:p>
          <a:p>
            <a:r>
              <a:rPr lang="en-US" b="1"/>
              <a:t>clean layout </a:t>
            </a:r>
            <a:r>
              <a:rPr lang="en-US"/>
              <a:t>showcasing recipe photos and instructions.</a:t>
            </a:r>
          </a:p>
        </p:txBody>
      </p:sp>
    </p:spTree>
    <p:extLst>
      <p:ext uri="{BB962C8B-B14F-4D97-AF65-F5344CB8AC3E}">
        <p14:creationId xmlns:p14="http://schemas.microsoft.com/office/powerpoint/2010/main" val="2525811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E15F0-D01A-C360-0EBB-1E5EFE5B9A2A}"/>
              </a:ext>
            </a:extLst>
          </p:cNvPr>
          <p:cNvSpPr>
            <a:spLocks noGrp="1"/>
          </p:cNvSpPr>
          <p:nvPr>
            <p:ph type="title"/>
          </p:nvPr>
        </p:nvSpPr>
        <p:spPr/>
        <p:txBody>
          <a:bodyPr/>
          <a:lstStyle/>
          <a:p>
            <a:r>
              <a:rPr lang="en-IN" b="1"/>
              <a:t>Homepage</a:t>
            </a:r>
          </a:p>
        </p:txBody>
      </p:sp>
      <p:pic>
        <p:nvPicPr>
          <p:cNvPr id="7" name="Content Placeholder 6">
            <a:extLst>
              <a:ext uri="{FF2B5EF4-FFF2-40B4-BE49-F238E27FC236}">
                <a16:creationId xmlns:a16="http://schemas.microsoft.com/office/drawing/2014/main" id="{433BB71C-2982-1D5A-1779-80EF589EBB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3791" y="1411356"/>
            <a:ext cx="9403837" cy="4525963"/>
          </a:xfrm>
        </p:spPr>
      </p:pic>
    </p:spTree>
    <p:extLst>
      <p:ext uri="{BB962C8B-B14F-4D97-AF65-F5344CB8AC3E}">
        <p14:creationId xmlns:p14="http://schemas.microsoft.com/office/powerpoint/2010/main" val="3686927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65E0-3407-7D94-A1D5-54E6ADD1C0D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1B4F85E-8457-2AF3-760F-5878C3152A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2345" y="1620078"/>
            <a:ext cx="6226629" cy="4525963"/>
          </a:xfrm>
        </p:spPr>
      </p:pic>
      <p:pic>
        <p:nvPicPr>
          <p:cNvPr id="7" name="Picture 6">
            <a:extLst>
              <a:ext uri="{FF2B5EF4-FFF2-40B4-BE49-F238E27FC236}">
                <a16:creationId xmlns:a16="http://schemas.microsoft.com/office/drawing/2014/main" id="{829FC5D2-B3F5-877E-86F2-C83BCDC861D5}"/>
              </a:ext>
            </a:extLst>
          </p:cNvPr>
          <p:cNvPicPr>
            <a:picLocks noChangeAspect="1"/>
          </p:cNvPicPr>
          <p:nvPr/>
        </p:nvPicPr>
        <p:blipFill>
          <a:blip r:embed="rId3"/>
          <a:stretch>
            <a:fillRect/>
          </a:stretch>
        </p:blipFill>
        <p:spPr>
          <a:xfrm>
            <a:off x="7792278" y="2150645"/>
            <a:ext cx="3411664" cy="3628038"/>
          </a:xfrm>
          <a:prstGeom prst="rect">
            <a:avLst/>
          </a:prstGeom>
        </p:spPr>
      </p:pic>
      <p:cxnSp>
        <p:nvCxnSpPr>
          <p:cNvPr id="9" name="Straight Arrow Connector 8">
            <a:extLst>
              <a:ext uri="{FF2B5EF4-FFF2-40B4-BE49-F238E27FC236}">
                <a16:creationId xmlns:a16="http://schemas.microsoft.com/office/drawing/2014/main" id="{3F1E6B18-988B-B136-ED39-2C0ECDF27F1F}"/>
              </a:ext>
            </a:extLst>
          </p:cNvPr>
          <p:cNvCxnSpPr/>
          <p:nvPr/>
        </p:nvCxnSpPr>
        <p:spPr>
          <a:xfrm>
            <a:off x="4025348" y="4482548"/>
            <a:ext cx="327991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7605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03CBB-1CCD-6717-A264-244830675DB1}"/>
              </a:ext>
            </a:extLst>
          </p:cNvPr>
          <p:cNvSpPr>
            <a:spLocks noGrp="1"/>
          </p:cNvSpPr>
          <p:nvPr>
            <p:ph type="title"/>
          </p:nvPr>
        </p:nvSpPr>
        <p:spPr/>
        <p:txBody>
          <a:bodyPr/>
          <a:lstStyle/>
          <a:p>
            <a:r>
              <a:rPr lang="en-IN" b="1"/>
              <a:t>Features &amp; Functionality</a:t>
            </a:r>
          </a:p>
        </p:txBody>
      </p:sp>
      <p:sp>
        <p:nvSpPr>
          <p:cNvPr id="3" name="Content Placeholder 2">
            <a:extLst>
              <a:ext uri="{FF2B5EF4-FFF2-40B4-BE49-F238E27FC236}">
                <a16:creationId xmlns:a16="http://schemas.microsoft.com/office/drawing/2014/main" id="{46F46916-7295-C518-59A8-D6A008457AF7}"/>
              </a:ext>
            </a:extLst>
          </p:cNvPr>
          <p:cNvSpPr>
            <a:spLocks noGrp="1"/>
          </p:cNvSpPr>
          <p:nvPr>
            <p:ph idx="1"/>
          </p:nvPr>
        </p:nvSpPr>
        <p:spPr/>
        <p:txBody>
          <a:bodyPr>
            <a:normAutofit lnSpcReduction="10000"/>
          </a:bodyPr>
          <a:lstStyle/>
          <a:p>
            <a:r>
              <a:rPr lang="en-US"/>
              <a:t>Users first create an account by signing up and then log in to access the platform easily in the future.</a:t>
            </a:r>
          </a:p>
          <a:p>
            <a:r>
              <a:rPr lang="en-US"/>
              <a:t>After logging in, clicking the "Get Started" icon takes users to the main page displaying a variety of recipes with photos.</a:t>
            </a:r>
          </a:p>
          <a:p>
            <a:r>
              <a:rPr lang="en-US"/>
              <a:t>Users can browse recipes, like their favorites, and share them with others.</a:t>
            </a:r>
          </a:p>
          <a:p>
            <a:r>
              <a:rPr lang="en-US"/>
              <a:t>Clicking on a recipe photo opens a detailed page showing the recipe description, including ingredients and step-by-step cooking instructions.</a:t>
            </a:r>
          </a:p>
          <a:p>
            <a:endParaRPr lang="en-IN"/>
          </a:p>
        </p:txBody>
      </p:sp>
    </p:spTree>
    <p:extLst>
      <p:ext uri="{BB962C8B-B14F-4D97-AF65-F5344CB8AC3E}">
        <p14:creationId xmlns:p14="http://schemas.microsoft.com/office/powerpoint/2010/main" val="1220571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9979F-9060-11C4-7D53-957DAD3F3D06}"/>
              </a:ext>
            </a:extLst>
          </p:cNvPr>
          <p:cNvSpPr>
            <a:spLocks noGrp="1"/>
          </p:cNvSpPr>
          <p:nvPr>
            <p:ph type="title"/>
          </p:nvPr>
        </p:nvSpPr>
        <p:spPr/>
        <p:txBody>
          <a:bodyPr/>
          <a:lstStyle/>
          <a:p>
            <a:r>
              <a:rPr lang="en-IN" b="1"/>
              <a:t>Why is it unique?</a:t>
            </a:r>
          </a:p>
        </p:txBody>
      </p:sp>
      <p:sp>
        <p:nvSpPr>
          <p:cNvPr id="3" name="Content Placeholder 2">
            <a:extLst>
              <a:ext uri="{FF2B5EF4-FFF2-40B4-BE49-F238E27FC236}">
                <a16:creationId xmlns:a16="http://schemas.microsoft.com/office/drawing/2014/main" id="{C9DCF55D-8FFC-998A-7F18-E77A0534FC8B}"/>
              </a:ext>
            </a:extLst>
          </p:cNvPr>
          <p:cNvSpPr>
            <a:spLocks noGrp="1"/>
          </p:cNvSpPr>
          <p:nvPr>
            <p:ph idx="1"/>
          </p:nvPr>
        </p:nvSpPr>
        <p:spPr/>
        <p:txBody>
          <a:bodyPr>
            <a:normAutofit lnSpcReduction="10000"/>
          </a:bodyPr>
          <a:lstStyle/>
          <a:p>
            <a:r>
              <a:rPr lang="en-US"/>
              <a:t>Our platform is all about community—users don’t just share recipes, they share ideas, tips, and suggestions to make cooking fun and creative.</a:t>
            </a:r>
          </a:p>
          <a:p>
            <a:r>
              <a:rPr lang="en-US"/>
              <a:t>It works like a personal recipe journal where users upload recipes along with their photos, making it feel warm and personal.</a:t>
            </a:r>
          </a:p>
          <a:p>
            <a:r>
              <a:rPr lang="en-US"/>
              <a:t>Whether you’re a beginner or an expert, the platform welcomes everyone to learn, share, and grow together, making cooking simple and enjoyable.</a:t>
            </a:r>
          </a:p>
          <a:p>
            <a:endParaRPr lang="en-IN"/>
          </a:p>
        </p:txBody>
      </p:sp>
    </p:spTree>
    <p:extLst>
      <p:ext uri="{BB962C8B-B14F-4D97-AF65-F5344CB8AC3E}">
        <p14:creationId xmlns:p14="http://schemas.microsoft.com/office/powerpoint/2010/main" val="265586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E7CE-780C-E51B-62B7-F341382633B2}"/>
              </a:ext>
            </a:extLst>
          </p:cNvPr>
          <p:cNvSpPr>
            <a:spLocks noGrp="1"/>
          </p:cNvSpPr>
          <p:nvPr>
            <p:ph type="title"/>
          </p:nvPr>
        </p:nvSpPr>
        <p:spPr/>
        <p:txBody>
          <a:bodyPr/>
          <a:lstStyle/>
          <a:p>
            <a:r>
              <a:rPr lang="en-IN" b="1"/>
              <a:t>Technology Used</a:t>
            </a:r>
          </a:p>
        </p:txBody>
      </p:sp>
      <p:sp>
        <p:nvSpPr>
          <p:cNvPr id="3" name="Content Placeholder 2">
            <a:extLst>
              <a:ext uri="{FF2B5EF4-FFF2-40B4-BE49-F238E27FC236}">
                <a16:creationId xmlns:a16="http://schemas.microsoft.com/office/drawing/2014/main" id="{EC909196-0EAB-6409-DAFE-A1FAA4BB6389}"/>
              </a:ext>
            </a:extLst>
          </p:cNvPr>
          <p:cNvSpPr>
            <a:spLocks noGrp="1"/>
          </p:cNvSpPr>
          <p:nvPr>
            <p:ph idx="1"/>
          </p:nvPr>
        </p:nvSpPr>
        <p:spPr>
          <a:xfrm>
            <a:off x="589721" y="1411358"/>
            <a:ext cx="10972800" cy="4770782"/>
          </a:xfrm>
        </p:spPr>
        <p:txBody>
          <a:bodyPr>
            <a:normAutofit lnSpcReduction="10000"/>
          </a:bodyPr>
          <a:lstStyle/>
          <a:p>
            <a:r>
              <a:rPr lang="en-US"/>
              <a:t>The website is built using </a:t>
            </a:r>
            <a:r>
              <a:rPr lang="en-US" b="1"/>
              <a:t>Node.js for the backend</a:t>
            </a:r>
            <a:r>
              <a:rPr lang="en-US"/>
              <a:t>, which allows us to create a fast and scalable server.</a:t>
            </a:r>
          </a:p>
          <a:p>
            <a:r>
              <a:rPr lang="en-US"/>
              <a:t>We use </a:t>
            </a:r>
            <a:r>
              <a:rPr lang="en-US" b="1"/>
              <a:t>MongoDB</a:t>
            </a:r>
            <a:r>
              <a:rPr lang="en-US"/>
              <a:t> </a:t>
            </a:r>
            <a:r>
              <a:rPr lang="en-US" b="1"/>
              <a:t>as our database</a:t>
            </a:r>
            <a:r>
              <a:rPr lang="en-US"/>
              <a:t> to store recipes, user information, and comments in a flexible, easy-to-manage way.</a:t>
            </a:r>
          </a:p>
          <a:p>
            <a:r>
              <a:rPr lang="en-US"/>
              <a:t>The </a:t>
            </a:r>
            <a:r>
              <a:rPr lang="en-US" b="1"/>
              <a:t>frontend is designed with HTML, CSS, and JavaScript </a:t>
            </a:r>
            <a:r>
              <a:rPr lang="en-US"/>
              <a:t>to make the site interactive and visually appealing.</a:t>
            </a:r>
          </a:p>
          <a:p>
            <a:r>
              <a:rPr lang="en-US"/>
              <a:t>Using these technologies helped create a responsive, user-friendly platform where users can share and interact with recipes easily.</a:t>
            </a:r>
          </a:p>
          <a:p>
            <a:endParaRPr lang="en-IN"/>
          </a:p>
        </p:txBody>
      </p:sp>
    </p:spTree>
    <p:extLst>
      <p:ext uri="{BB962C8B-B14F-4D97-AF65-F5344CB8AC3E}">
        <p14:creationId xmlns:p14="http://schemas.microsoft.com/office/powerpoint/2010/main" val="474438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A5B60-2FE5-2EAA-9DD8-5F971FC58418}"/>
              </a:ext>
            </a:extLst>
          </p:cNvPr>
          <p:cNvSpPr>
            <a:spLocks noGrp="1"/>
          </p:cNvSpPr>
          <p:nvPr>
            <p:ph type="title"/>
          </p:nvPr>
        </p:nvSpPr>
        <p:spPr/>
        <p:txBody>
          <a:bodyPr/>
          <a:lstStyle/>
          <a:p>
            <a:r>
              <a:rPr lang="en-IN" b="1"/>
              <a:t>References</a:t>
            </a:r>
          </a:p>
        </p:txBody>
      </p:sp>
      <p:sp>
        <p:nvSpPr>
          <p:cNvPr id="3" name="Content Placeholder 2">
            <a:extLst>
              <a:ext uri="{FF2B5EF4-FFF2-40B4-BE49-F238E27FC236}">
                <a16:creationId xmlns:a16="http://schemas.microsoft.com/office/drawing/2014/main" id="{3CDB5419-6FB1-B7CB-BB8B-53D0B20067D5}"/>
              </a:ext>
            </a:extLst>
          </p:cNvPr>
          <p:cNvSpPr>
            <a:spLocks noGrp="1"/>
          </p:cNvSpPr>
          <p:nvPr>
            <p:ph idx="1"/>
          </p:nvPr>
        </p:nvSpPr>
        <p:spPr/>
        <p:txBody>
          <a:bodyPr/>
          <a:lstStyle/>
          <a:p>
            <a:r>
              <a:rPr lang="en-IN"/>
              <a:t>W3Schools - HTML, CSS, and JavaScript Tutorials</a:t>
            </a:r>
          </a:p>
          <a:p>
            <a:r>
              <a:rPr lang="en-IN"/>
              <a:t>MDN Web Docs - Node.js and Express.js Documentation</a:t>
            </a:r>
          </a:p>
          <a:p>
            <a:r>
              <a:rPr lang="en-IN" err="1"/>
              <a:t>GeeksforGeeks</a:t>
            </a:r>
            <a:r>
              <a:rPr lang="en-IN"/>
              <a:t> - Web Development and SQL Tutorials</a:t>
            </a:r>
          </a:p>
          <a:p>
            <a:r>
              <a:rPr lang="en-IN"/>
              <a:t>TutorialsPoint - Full Stack Development Guide</a:t>
            </a:r>
          </a:p>
        </p:txBody>
      </p:sp>
    </p:spTree>
    <p:extLst>
      <p:ext uri="{BB962C8B-B14F-4D97-AF65-F5344CB8AC3E}">
        <p14:creationId xmlns:p14="http://schemas.microsoft.com/office/powerpoint/2010/main" val="1243971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A5C3A8-7A3D-669E-255F-5F9756D2B336}"/>
              </a:ext>
            </a:extLst>
          </p:cNvPr>
          <p:cNvSpPr>
            <a:spLocks noGrp="1"/>
          </p:cNvSpPr>
          <p:nvPr>
            <p:ph idx="1"/>
          </p:nvPr>
        </p:nvSpPr>
        <p:spPr>
          <a:xfrm>
            <a:off x="304800" y="2354317"/>
            <a:ext cx="10972800" cy="2226826"/>
          </a:xfrm>
        </p:spPr>
        <p:txBody>
          <a:bodyPr/>
          <a:lstStyle/>
          <a:p>
            <a:pPr marL="0" indent="0" algn="ctr">
              <a:buNone/>
            </a:pPr>
            <a:endParaRPr lang="en-IN"/>
          </a:p>
          <a:p>
            <a:pPr marL="0" indent="0" algn="ctr">
              <a:buNone/>
            </a:pPr>
            <a:r>
              <a:rPr lang="en-IN" sz="7200"/>
              <a:t>THANK YOU!!</a:t>
            </a:r>
          </a:p>
        </p:txBody>
      </p:sp>
    </p:spTree>
    <p:extLst>
      <p:ext uri="{BB962C8B-B14F-4D97-AF65-F5344CB8AC3E}">
        <p14:creationId xmlns:p14="http://schemas.microsoft.com/office/powerpoint/2010/main" val="100695812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1_Office Theme</vt:lpstr>
      <vt:lpstr>Recipe Sharing  Subject Name: Web Development  Subject Code:ETVAWD009</vt:lpstr>
      <vt:lpstr>[Recipe Haven] Discover, Cook, Enjoy! Tagline: “Delicious recipes for everyday inspiration.” </vt:lpstr>
      <vt:lpstr>Table of Contents</vt:lpstr>
      <vt:lpstr>Introduction</vt:lpstr>
      <vt:lpstr>Background Study</vt:lpstr>
      <vt:lpstr>Mission &amp; Vision</vt:lpstr>
      <vt:lpstr>Website Overview</vt:lpstr>
      <vt:lpstr>Homepage</vt:lpstr>
      <vt:lpstr>PowerPoint Presentation</vt:lpstr>
      <vt:lpstr>Features &amp; Functionality</vt:lpstr>
      <vt:lpstr>Why is it unique?</vt:lpstr>
      <vt:lpstr>Technology Used</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Recipe Sharing  Subject Name: Web Development  Subject Code:ETVAWD009</dc:title>
  <dc:creator>Aarti Sangwan</dc:creator>
  <cp:lastModifiedBy>diksha kumari</cp:lastModifiedBy>
  <cp:revision>1</cp:revision>
  <dcterms:created xsi:type="dcterms:W3CDTF">2025-11-05T06:53:51Z</dcterms:created>
  <dcterms:modified xsi:type="dcterms:W3CDTF">2025-11-13T17:33:12Z</dcterms:modified>
</cp:coreProperties>
</file>